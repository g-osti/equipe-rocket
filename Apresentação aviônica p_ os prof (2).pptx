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10287000" cx="18288000"/>
  <p:notesSz cx="18288000" cy="10287000"/>
  <p:embeddedFontLst>
    <p:embeddedFont>
      <p:font typeface="Bebas Neue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35" roundtripDataSignature="AMtx7mj4XgygPDqTgExVF6I51NmF4Zih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BebasNeue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72c43a1f8_0_2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g1272c43a1f8_0_22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2dff24fa28_0_16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2dff24fa28_0_1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72c43a1f8_0_8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1272c43a1f8_0_8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1a27adc92_0_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31a27adc92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272c43a1f8_0_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1272c43a1f8_0_8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1a27adc92_0_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31a27adc92_0_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72c43a1f8_0_10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1272c43a1f8_0_10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31a27adc92_0_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31a27adc92_0_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31a27adc92_0_12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31a27adc92_0_1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31a27adc92_0_1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31a27adc92_0_1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31a27adc92_0_18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31a27adc92_0_1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2dff24fa28_0_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2dff24fa28_0_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2a841ac707_1_14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12a841ac707_1_14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2a841ac707_1_4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12a841ac707_1_4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3306d635f2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13306d635f2_0_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31a27adc92_0_31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131a27adc92_0_31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31a27adc92_0_3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131a27adc92_0_3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2a841ac707_1_6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g12a841ac707_1_6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2a841ac707_1_6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g12a841ac707_1_68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8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6"/>
          <p:cNvSpPr/>
          <p:nvPr/>
        </p:nvSpPr>
        <p:spPr>
          <a:xfrm>
            <a:off x="0" y="11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88" y="0"/>
                </a:moveTo>
                <a:lnTo>
                  <a:pt x="0" y="0"/>
                </a:lnTo>
                <a:lnTo>
                  <a:pt x="0" y="5353799"/>
                </a:lnTo>
                <a:lnTo>
                  <a:pt x="13127330" y="5353799"/>
                </a:lnTo>
                <a:lnTo>
                  <a:pt x="13127330" y="10286987"/>
                </a:lnTo>
                <a:lnTo>
                  <a:pt x="18287988" y="10286987"/>
                </a:lnTo>
                <a:lnTo>
                  <a:pt x="18287988" y="5353799"/>
                </a:lnTo>
                <a:lnTo>
                  <a:pt x="18287988" y="5174869"/>
                </a:lnTo>
                <a:lnTo>
                  <a:pt x="18287988" y="0"/>
                </a:lnTo>
                <a:close/>
              </a:path>
            </a:pathLst>
          </a:custGeom>
          <a:solidFill>
            <a:srgbClr val="0416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6"/>
          <p:cNvSpPr txBox="1"/>
          <p:nvPr>
            <p:ph type="title"/>
          </p:nvPr>
        </p:nvSpPr>
        <p:spPr>
          <a:xfrm>
            <a:off x="7975798" y="4434389"/>
            <a:ext cx="2336402" cy="659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8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7"/>
          <p:cNvSpPr/>
          <p:nvPr/>
        </p:nvSpPr>
        <p:spPr>
          <a:xfrm>
            <a:off x="0" y="11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88" y="0"/>
                </a:moveTo>
                <a:lnTo>
                  <a:pt x="0" y="0"/>
                </a:lnTo>
                <a:lnTo>
                  <a:pt x="0" y="5353786"/>
                </a:lnTo>
                <a:lnTo>
                  <a:pt x="13127330" y="5353786"/>
                </a:lnTo>
                <a:lnTo>
                  <a:pt x="13127330" y="10286987"/>
                </a:lnTo>
                <a:lnTo>
                  <a:pt x="18287988" y="10286987"/>
                </a:lnTo>
                <a:lnTo>
                  <a:pt x="18287988" y="5353786"/>
                </a:lnTo>
                <a:lnTo>
                  <a:pt x="18287988" y="5174869"/>
                </a:lnTo>
                <a:lnTo>
                  <a:pt x="18287988" y="0"/>
                </a:lnTo>
                <a:close/>
              </a:path>
            </a:pathLst>
          </a:custGeom>
          <a:solidFill>
            <a:srgbClr val="0416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7"/>
          <p:cNvSpPr txBox="1"/>
          <p:nvPr>
            <p:ph type="title"/>
          </p:nvPr>
        </p:nvSpPr>
        <p:spPr>
          <a:xfrm>
            <a:off x="7975798" y="4434389"/>
            <a:ext cx="2336402" cy="659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body"/>
          </p:nvPr>
        </p:nvSpPr>
        <p:spPr>
          <a:xfrm>
            <a:off x="720417" y="2478572"/>
            <a:ext cx="16847164" cy="553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/>
          <p:nvPr>
            <p:ph type="ctrTitle"/>
          </p:nvPr>
        </p:nvSpPr>
        <p:spPr>
          <a:xfrm>
            <a:off x="2941627" y="997652"/>
            <a:ext cx="12404745" cy="1084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7975798" y="4434389"/>
            <a:ext cx="2336402" cy="659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7975798" y="4434389"/>
            <a:ext cx="2336402" cy="659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5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720417" y="2478572"/>
            <a:ext cx="16847164" cy="553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jp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3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1"/>
          <p:cNvGrpSpPr/>
          <p:nvPr/>
        </p:nvGrpSpPr>
        <p:grpSpPr>
          <a:xfrm>
            <a:off x="0" y="0"/>
            <a:ext cx="18287999" cy="10286999"/>
            <a:chOff x="0" y="0"/>
            <a:chExt cx="18287999" cy="10286999"/>
          </a:xfrm>
        </p:grpSpPr>
        <p:pic>
          <p:nvPicPr>
            <p:cNvPr id="48" name="Google Shape;48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7999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Google Shape;49;p1"/>
            <p:cNvSpPr/>
            <p:nvPr/>
          </p:nvSpPr>
          <p:spPr>
            <a:xfrm>
              <a:off x="5594401" y="4124292"/>
              <a:ext cx="7096125" cy="2038350"/>
            </a:xfrm>
            <a:custGeom>
              <a:rect b="b" l="l" r="r" t="t"/>
              <a:pathLst>
                <a:path extrusionOk="0" h="2038350" w="7096125">
                  <a:moveTo>
                    <a:pt x="7096092" y="2038349"/>
                  </a:moveTo>
                  <a:lnTo>
                    <a:pt x="0" y="2038349"/>
                  </a:lnTo>
                  <a:lnTo>
                    <a:pt x="0" y="0"/>
                  </a:lnTo>
                  <a:lnTo>
                    <a:pt x="7096092" y="0"/>
                  </a:lnTo>
                  <a:lnTo>
                    <a:pt x="7096092" y="2038349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p1"/>
          <p:cNvSpPr txBox="1"/>
          <p:nvPr>
            <p:ph type="title"/>
          </p:nvPr>
        </p:nvSpPr>
        <p:spPr>
          <a:xfrm>
            <a:off x="5907894" y="4086478"/>
            <a:ext cx="6263005" cy="206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3400">
                <a:solidFill>
                  <a:srgbClr val="0416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Aviônica</a:t>
            </a:r>
            <a:endParaRPr sz="1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0" y="1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"/>
          <p:cNvGrpSpPr/>
          <p:nvPr/>
        </p:nvGrpSpPr>
        <p:grpSpPr>
          <a:xfrm>
            <a:off x="0" y="1"/>
            <a:ext cx="18288613" cy="10287264"/>
            <a:chOff x="0" y="1"/>
            <a:chExt cx="18288613" cy="10287264"/>
          </a:xfrm>
        </p:grpSpPr>
        <p:sp>
          <p:nvSpPr>
            <p:cNvPr id="57" name="Google Shape;57;p3"/>
            <p:cNvSpPr/>
            <p:nvPr/>
          </p:nvSpPr>
          <p:spPr>
            <a:xfrm>
              <a:off x="13127333" y="5174880"/>
              <a:ext cx="5161280" cy="5112385"/>
            </a:xfrm>
            <a:custGeom>
              <a:rect b="b" l="l" r="r" t="t"/>
              <a:pathLst>
                <a:path extrusionOk="0" h="5112384" w="5161280">
                  <a:moveTo>
                    <a:pt x="0" y="0"/>
                  </a:moveTo>
                  <a:lnTo>
                    <a:pt x="5160665" y="0"/>
                  </a:lnTo>
                  <a:lnTo>
                    <a:pt x="5160665" y="5112119"/>
                  </a:lnTo>
                  <a:lnTo>
                    <a:pt x="0" y="5112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" name="Google Shape;5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510"/>
              <a:ext cx="18283534" cy="10284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3"/>
            <p:cNvSpPr/>
            <p:nvPr/>
          </p:nvSpPr>
          <p:spPr>
            <a:xfrm>
              <a:off x="0" y="1"/>
              <a:ext cx="18288000" cy="5544820"/>
            </a:xfrm>
            <a:custGeom>
              <a:rect b="b" l="l" r="r" t="t"/>
              <a:pathLst>
                <a:path extrusionOk="0" h="5544820" w="18288000">
                  <a:moveTo>
                    <a:pt x="18287998" y="5544300"/>
                  </a:moveTo>
                  <a:lnTo>
                    <a:pt x="0" y="5544300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554430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3"/>
          <p:cNvSpPr/>
          <p:nvPr/>
        </p:nvSpPr>
        <p:spPr>
          <a:xfrm>
            <a:off x="13317833" y="5365380"/>
            <a:ext cx="4970780" cy="4921885"/>
          </a:xfrm>
          <a:custGeom>
            <a:rect b="b" l="l" r="r" t="t"/>
            <a:pathLst>
              <a:path extrusionOk="0" h="4921884" w="4970780">
                <a:moveTo>
                  <a:pt x="0" y="0"/>
                </a:moveTo>
                <a:lnTo>
                  <a:pt x="4970165" y="0"/>
                </a:lnTo>
                <a:lnTo>
                  <a:pt x="4970165" y="4921619"/>
                </a:lnTo>
                <a:lnTo>
                  <a:pt x="0" y="4921619"/>
                </a:lnTo>
                <a:lnTo>
                  <a:pt x="0" y="0"/>
                </a:lnTo>
                <a:close/>
              </a:path>
            </a:pathLst>
          </a:custGeom>
          <a:solidFill>
            <a:srgbClr val="0416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3429000" y="3444300"/>
            <a:ext cx="10100100" cy="3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Eletronica embarcada;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Acionamento da ignição e do paraqueda</a:t>
            </a: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s;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Auxílio recuperação.</a:t>
            </a:r>
            <a:endParaRPr i="0" sz="55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2941627" y="997650"/>
            <a:ext cx="79668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Funções da aviônica: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1272c43a1f8_0_22"/>
          <p:cNvGrpSpPr/>
          <p:nvPr/>
        </p:nvGrpSpPr>
        <p:grpSpPr>
          <a:xfrm>
            <a:off x="0" y="-76201"/>
            <a:ext cx="18288613" cy="10729227"/>
            <a:chOff x="0" y="-76201"/>
            <a:chExt cx="18288613" cy="10729227"/>
          </a:xfrm>
        </p:grpSpPr>
        <p:sp>
          <p:nvSpPr>
            <p:cNvPr id="68" name="Google Shape;68;g1272c43a1f8_0_22"/>
            <p:cNvSpPr/>
            <p:nvPr/>
          </p:nvSpPr>
          <p:spPr>
            <a:xfrm>
              <a:off x="13127333" y="5174880"/>
              <a:ext cx="5161280" cy="5112384"/>
            </a:xfrm>
            <a:custGeom>
              <a:rect b="b" l="l" r="r" t="t"/>
              <a:pathLst>
                <a:path extrusionOk="0" h="5112384" w="5161280">
                  <a:moveTo>
                    <a:pt x="0" y="0"/>
                  </a:moveTo>
                  <a:lnTo>
                    <a:pt x="5160665" y="0"/>
                  </a:lnTo>
                  <a:lnTo>
                    <a:pt x="5160665" y="5112119"/>
                  </a:lnTo>
                  <a:lnTo>
                    <a:pt x="0" y="5112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1631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9" name="Google Shape;69;g1272c43a1f8_0_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510"/>
              <a:ext cx="18283534" cy="1028448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</p:pic>
        <p:sp>
          <p:nvSpPr>
            <p:cNvPr id="70" name="Google Shape;70;g1272c43a1f8_0_22"/>
            <p:cNvSpPr/>
            <p:nvPr/>
          </p:nvSpPr>
          <p:spPr>
            <a:xfrm>
              <a:off x="0" y="-76201"/>
              <a:ext cx="18288000" cy="10729227"/>
            </a:xfrm>
            <a:custGeom>
              <a:rect b="b" l="l" r="r" t="t"/>
              <a:pathLst>
                <a:path extrusionOk="0" h="5544820" w="18288000">
                  <a:moveTo>
                    <a:pt x="18287998" y="5544300"/>
                  </a:moveTo>
                  <a:lnTo>
                    <a:pt x="0" y="5544300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5544300"/>
                  </a:lnTo>
                  <a:close/>
                </a:path>
              </a:pathLst>
            </a:custGeom>
            <a:solidFill>
              <a:srgbClr val="041631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g1272c43a1f8_0_22"/>
          <p:cNvSpPr/>
          <p:nvPr/>
        </p:nvSpPr>
        <p:spPr>
          <a:xfrm>
            <a:off x="3401300" y="2095650"/>
            <a:ext cx="9372600" cy="819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1272c43a1f8_0_22"/>
          <p:cNvSpPr/>
          <p:nvPr/>
        </p:nvSpPr>
        <p:spPr>
          <a:xfrm>
            <a:off x="3401300" y="3719950"/>
            <a:ext cx="9372900" cy="633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1272c43a1f8_0_22"/>
          <p:cNvSpPr txBox="1"/>
          <p:nvPr/>
        </p:nvSpPr>
        <p:spPr>
          <a:xfrm>
            <a:off x="2941624" y="997650"/>
            <a:ext cx="108900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Subseções da Avionica:</a:t>
            </a:r>
            <a:endParaRPr sz="7050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4" name="Google Shape;74;g1272c43a1f8_0_22"/>
          <p:cNvSpPr/>
          <p:nvPr/>
        </p:nvSpPr>
        <p:spPr>
          <a:xfrm>
            <a:off x="4191000" y="8749127"/>
            <a:ext cx="35538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Potencia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75" name="Google Shape;75;g1272c43a1f8_0_22"/>
          <p:cNvSpPr/>
          <p:nvPr/>
        </p:nvSpPr>
        <p:spPr>
          <a:xfrm>
            <a:off x="4191000" y="7155049"/>
            <a:ext cx="35538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COMPUTADOR DE BORDO</a:t>
            </a:r>
            <a:endParaRPr sz="3500">
              <a:solidFill>
                <a:schemeClr val="lt1"/>
              </a:solidFill>
            </a:endParaRPr>
          </a:p>
        </p:txBody>
      </p:sp>
      <p:sp>
        <p:nvSpPr>
          <p:cNvPr id="76" name="Google Shape;76;g1272c43a1f8_0_22"/>
          <p:cNvSpPr/>
          <p:nvPr/>
        </p:nvSpPr>
        <p:spPr>
          <a:xfrm>
            <a:off x="4191000" y="5560972"/>
            <a:ext cx="35538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Telemetria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77" name="Google Shape;77;g1272c43a1f8_0_22"/>
          <p:cNvSpPr/>
          <p:nvPr/>
        </p:nvSpPr>
        <p:spPr>
          <a:xfrm>
            <a:off x="4191000" y="3966900"/>
            <a:ext cx="35538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Telecomunicação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78" name="Google Shape;78;g1272c43a1f8_0_22"/>
          <p:cNvSpPr/>
          <p:nvPr/>
        </p:nvSpPr>
        <p:spPr>
          <a:xfrm>
            <a:off x="4191000" y="2372827"/>
            <a:ext cx="35538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Recuperação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79" name="Google Shape;79;g1272c43a1f8_0_22"/>
          <p:cNvSpPr/>
          <p:nvPr/>
        </p:nvSpPr>
        <p:spPr>
          <a:xfrm>
            <a:off x="8790700" y="7155047"/>
            <a:ext cx="35538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Experimento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80" name="Google Shape;80;g1272c43a1f8_0_22"/>
          <p:cNvSpPr/>
          <p:nvPr/>
        </p:nvSpPr>
        <p:spPr>
          <a:xfrm>
            <a:off x="14225150" y="3966897"/>
            <a:ext cx="35538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Ignição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81" name="Google Shape;81;g1272c43a1f8_0_22"/>
          <p:cNvSpPr/>
          <p:nvPr/>
        </p:nvSpPr>
        <p:spPr>
          <a:xfrm>
            <a:off x="13910000" y="7155050"/>
            <a:ext cx="41841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Bancada estática</a:t>
            </a:r>
            <a:endParaRPr sz="5000">
              <a:solidFill>
                <a:schemeClr val="lt1"/>
              </a:solidFill>
            </a:endParaRPr>
          </a:p>
        </p:txBody>
      </p:sp>
      <p:cxnSp>
        <p:nvCxnSpPr>
          <p:cNvPr id="82" name="Google Shape;82;g1272c43a1f8_0_22"/>
          <p:cNvCxnSpPr>
            <a:stCxn id="79" idx="1"/>
            <a:endCxn id="75" idx="3"/>
          </p:cNvCxnSpPr>
          <p:nvPr/>
        </p:nvCxnSpPr>
        <p:spPr>
          <a:xfrm rot="10800000">
            <a:off x="7744900" y="7704047"/>
            <a:ext cx="1045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" name="Google Shape;83;g1272c43a1f8_0_22"/>
          <p:cNvCxnSpPr>
            <a:stCxn id="77" idx="3"/>
            <a:endCxn id="80" idx="1"/>
          </p:cNvCxnSpPr>
          <p:nvPr/>
        </p:nvCxnSpPr>
        <p:spPr>
          <a:xfrm>
            <a:off x="7744800" y="4515900"/>
            <a:ext cx="64803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ot"/>
            <a:round/>
            <a:headEnd len="med" w="med" type="stealth"/>
            <a:tailEnd len="med" w="med" type="stealth"/>
          </a:ln>
        </p:spPr>
      </p:cxnSp>
      <p:cxnSp>
        <p:nvCxnSpPr>
          <p:cNvPr id="84" name="Google Shape;84;g1272c43a1f8_0_22"/>
          <p:cNvCxnSpPr>
            <a:stCxn id="74" idx="0"/>
            <a:endCxn id="75" idx="2"/>
          </p:cNvCxnSpPr>
          <p:nvPr/>
        </p:nvCxnSpPr>
        <p:spPr>
          <a:xfrm rot="10800000">
            <a:off x="5967900" y="8252927"/>
            <a:ext cx="0" cy="496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g1272c43a1f8_0_22"/>
          <p:cNvCxnSpPr>
            <a:stCxn id="75" idx="0"/>
            <a:endCxn id="76" idx="2"/>
          </p:cNvCxnSpPr>
          <p:nvPr/>
        </p:nvCxnSpPr>
        <p:spPr>
          <a:xfrm rot="10800000">
            <a:off x="5967900" y="6658849"/>
            <a:ext cx="0" cy="496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g1272c43a1f8_0_22"/>
          <p:cNvCxnSpPr>
            <a:endCxn id="77" idx="2"/>
          </p:cNvCxnSpPr>
          <p:nvPr/>
        </p:nvCxnSpPr>
        <p:spPr>
          <a:xfrm rot="10800000">
            <a:off x="5967900" y="5064900"/>
            <a:ext cx="0" cy="496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g1272c43a1f8_0_22"/>
          <p:cNvCxnSpPr>
            <a:stCxn id="76" idx="1"/>
            <a:endCxn id="78" idx="1"/>
          </p:cNvCxnSpPr>
          <p:nvPr/>
        </p:nvCxnSpPr>
        <p:spPr>
          <a:xfrm flipH="1" rot="10800000">
            <a:off x="4191000" y="2921872"/>
            <a:ext cx="600" cy="3188100"/>
          </a:xfrm>
          <a:prstGeom prst="curvedConnector3">
            <a:avLst>
              <a:gd fmla="val -100445833" name="adj1"/>
            </a:avLst>
          </a:prstGeom>
          <a:noFill/>
          <a:ln cap="flat" cmpd="sng" w="38100">
            <a:solidFill>
              <a:schemeClr val="lt1"/>
            </a:solidFill>
            <a:prstDash val="dot"/>
            <a:round/>
            <a:headEnd len="med" w="med" type="stealth"/>
            <a:tailEnd len="med" w="med" type="stealth"/>
          </a:ln>
        </p:spPr>
      </p:cxnSp>
      <p:sp>
        <p:nvSpPr>
          <p:cNvPr id="88" name="Google Shape;88;g1272c43a1f8_0_22"/>
          <p:cNvSpPr txBox="1"/>
          <p:nvPr/>
        </p:nvSpPr>
        <p:spPr>
          <a:xfrm>
            <a:off x="14297900" y="2444675"/>
            <a:ext cx="3408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Solo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g1272c43a1f8_0_22"/>
          <p:cNvSpPr txBox="1"/>
          <p:nvPr/>
        </p:nvSpPr>
        <p:spPr>
          <a:xfrm>
            <a:off x="8485925" y="2430650"/>
            <a:ext cx="3408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Foguete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g1272c43a1f8_0_22"/>
          <p:cNvSpPr txBox="1"/>
          <p:nvPr/>
        </p:nvSpPr>
        <p:spPr>
          <a:xfrm>
            <a:off x="8485925" y="4876950"/>
            <a:ext cx="3408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Vedação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g1272c43a1f8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775" y="3061975"/>
            <a:ext cx="3048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272c43a1f8_0_22"/>
          <p:cNvSpPr/>
          <p:nvPr/>
        </p:nvSpPr>
        <p:spPr>
          <a:xfrm>
            <a:off x="1170875" y="4280250"/>
            <a:ext cx="1045800" cy="860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3135981" y="2961126"/>
            <a:ext cx="285750" cy="285750"/>
          </a:xfrm>
          <a:custGeom>
            <a:rect b="b" l="l" r="r" t="t"/>
            <a:pathLst>
              <a:path extrusionOk="0" h="285750" w="285750">
                <a:moveTo>
                  <a:pt x="142874" y="285749"/>
                </a:moveTo>
                <a:lnTo>
                  <a:pt x="101399" y="279599"/>
                </a:lnTo>
                <a:lnTo>
                  <a:pt x="63497" y="261671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0" y="57757"/>
                </a:lnTo>
                <a:lnTo>
                  <a:pt x="57756" y="28120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0"/>
                </a:lnTo>
                <a:lnTo>
                  <a:pt x="257628" y="57757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135981" y="4075550"/>
            <a:ext cx="285750" cy="285750"/>
          </a:xfrm>
          <a:custGeom>
            <a:rect b="b" l="l" r="r" t="t"/>
            <a:pathLst>
              <a:path extrusionOk="0" h="285750" w="285750">
                <a:moveTo>
                  <a:pt x="142874" y="285749"/>
                </a:moveTo>
                <a:lnTo>
                  <a:pt x="101399" y="279599"/>
                </a:lnTo>
                <a:lnTo>
                  <a:pt x="63497" y="261670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0" y="57756"/>
                </a:lnTo>
                <a:lnTo>
                  <a:pt x="57756" y="28120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0"/>
                </a:lnTo>
                <a:lnTo>
                  <a:pt x="257628" y="57756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7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100" name="Google Shape;100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7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99"/>
                  </a:lnTo>
                  <a:lnTo>
                    <a:pt x="13127330" y="5353799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99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7"/>
          <p:cNvSpPr txBox="1"/>
          <p:nvPr/>
        </p:nvSpPr>
        <p:spPr>
          <a:xfrm>
            <a:off x="2941625" y="2872800"/>
            <a:ext cx="14732400" cy="3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i="0" lang="en-US" sz="55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Bateria 2200mAh, 11.1V  </a:t>
            </a:r>
            <a:endParaRPr i="0" sz="5500" u="none" cap="none" strike="noStrike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Step Down - </a:t>
            </a: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LM2956 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i="0" lang="en-US" sz="55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Tensões	diferentes	(3,3V  e 5V)</a:t>
            </a:r>
            <a:endParaRPr i="0" sz="55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3" name="Google Shape;103;p7"/>
          <p:cNvSpPr txBox="1"/>
          <p:nvPr>
            <p:ph type="title"/>
          </p:nvPr>
        </p:nvSpPr>
        <p:spPr>
          <a:xfrm>
            <a:off x="2941622" y="997650"/>
            <a:ext cx="74694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7050">
                <a:latin typeface="Bebas Neue"/>
                <a:ea typeface="Bebas Neue"/>
                <a:cs typeface="Bebas Neue"/>
                <a:sym typeface="Bebas Neue"/>
              </a:rPr>
              <a:t>Potência</a:t>
            </a:r>
            <a:endParaRPr sz="705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104" name="Google Shape;1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72052" y="4665233"/>
            <a:ext cx="5210174" cy="522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12dff24fa28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5788"/>
            <a:ext cx="18287999" cy="8475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/>
          <p:nvPr>
            <p:ph idx="1" type="body"/>
          </p:nvPr>
        </p:nvSpPr>
        <p:spPr>
          <a:xfrm>
            <a:off x="3429000" y="2809350"/>
            <a:ext cx="14550600" cy="4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Cérebro da  aviônica;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Recebimento e controle de dados;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Armazenamento de informações (Cartão SD);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Backup físico.</a:t>
            </a:r>
            <a:endParaRPr sz="42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5" name="Google Shape;115;p8"/>
          <p:cNvSpPr txBox="1"/>
          <p:nvPr>
            <p:ph type="title"/>
          </p:nvPr>
        </p:nvSpPr>
        <p:spPr>
          <a:xfrm>
            <a:off x="2941622" y="997650"/>
            <a:ext cx="74694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7000">
                <a:latin typeface="Bebas Neue"/>
                <a:ea typeface="Bebas Neue"/>
                <a:cs typeface="Bebas Neue"/>
                <a:sym typeface="Bebas Neue"/>
              </a:rPr>
              <a:t>Computador	De	Bordo</a:t>
            </a:r>
            <a:endParaRPr sz="775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116" name="Google Shape;11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1350" y="6241350"/>
            <a:ext cx="5653325" cy="393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272c43a1f8_0_80"/>
          <p:cNvSpPr/>
          <p:nvPr/>
        </p:nvSpPr>
        <p:spPr>
          <a:xfrm>
            <a:off x="3135981" y="2961126"/>
            <a:ext cx="285750" cy="285750"/>
          </a:xfrm>
          <a:custGeom>
            <a:rect b="b" l="l" r="r" t="t"/>
            <a:pathLst>
              <a:path extrusionOk="0" h="285750" w="285750">
                <a:moveTo>
                  <a:pt x="142874" y="285749"/>
                </a:moveTo>
                <a:lnTo>
                  <a:pt x="101399" y="279599"/>
                </a:lnTo>
                <a:lnTo>
                  <a:pt x="63497" y="261671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0" y="57757"/>
                </a:lnTo>
                <a:lnTo>
                  <a:pt x="57756" y="28120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0"/>
                </a:lnTo>
                <a:lnTo>
                  <a:pt x="257628" y="57757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1272c43a1f8_0_80"/>
          <p:cNvSpPr/>
          <p:nvPr/>
        </p:nvSpPr>
        <p:spPr>
          <a:xfrm>
            <a:off x="3135981" y="4075550"/>
            <a:ext cx="285750" cy="285750"/>
          </a:xfrm>
          <a:custGeom>
            <a:rect b="b" l="l" r="r" t="t"/>
            <a:pathLst>
              <a:path extrusionOk="0" h="285750" w="285750">
                <a:moveTo>
                  <a:pt x="142874" y="285749"/>
                </a:moveTo>
                <a:lnTo>
                  <a:pt x="101399" y="279599"/>
                </a:lnTo>
                <a:lnTo>
                  <a:pt x="63497" y="261670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0" y="57756"/>
                </a:lnTo>
                <a:lnTo>
                  <a:pt x="57756" y="28120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0"/>
                </a:lnTo>
                <a:lnTo>
                  <a:pt x="257628" y="57756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" name="Google Shape;123;g1272c43a1f8_0_80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124" name="Google Shape;124;g1272c43a1f8_0_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g1272c43a1f8_0_80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99"/>
                  </a:lnTo>
                  <a:lnTo>
                    <a:pt x="13127330" y="5353799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99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g1272c43a1f8_0_80"/>
          <p:cNvSpPr txBox="1"/>
          <p:nvPr/>
        </p:nvSpPr>
        <p:spPr>
          <a:xfrm>
            <a:off x="3729225" y="2644775"/>
            <a:ext cx="13899000" cy="3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Conferir o funcionamento de 2 tipos bateria;</a:t>
            </a:r>
            <a:endParaRPr sz="55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120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Comprovar eficiência baterias;</a:t>
            </a:r>
            <a:endParaRPr sz="55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120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módulo A/D do próprio micro.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7" name="Google Shape;127;g1272c43a1f8_0_80"/>
          <p:cNvSpPr txBox="1"/>
          <p:nvPr>
            <p:ph type="title"/>
          </p:nvPr>
        </p:nvSpPr>
        <p:spPr>
          <a:xfrm>
            <a:off x="2941622" y="997650"/>
            <a:ext cx="74694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7050">
                <a:latin typeface="Bebas Neue"/>
                <a:ea typeface="Bebas Neue"/>
                <a:cs typeface="Bebas Neue"/>
                <a:sym typeface="Bebas Neue"/>
              </a:rPr>
              <a:t>Experimento</a:t>
            </a:r>
            <a:endParaRPr sz="7050"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131a27adc9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113"/>
            <a:ext cx="18287999" cy="10134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72c43a1f8_0_8"/>
          <p:cNvSpPr/>
          <p:nvPr/>
        </p:nvSpPr>
        <p:spPr>
          <a:xfrm>
            <a:off x="0" y="1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g1272c43a1f8_0_8"/>
          <p:cNvGrpSpPr/>
          <p:nvPr/>
        </p:nvGrpSpPr>
        <p:grpSpPr>
          <a:xfrm>
            <a:off x="0" y="120639"/>
            <a:ext cx="18288613" cy="10287263"/>
            <a:chOff x="0" y="1"/>
            <a:chExt cx="18288613" cy="10287263"/>
          </a:xfrm>
        </p:grpSpPr>
        <p:sp>
          <p:nvSpPr>
            <p:cNvPr id="139" name="Google Shape;139;g1272c43a1f8_0_8"/>
            <p:cNvSpPr/>
            <p:nvPr/>
          </p:nvSpPr>
          <p:spPr>
            <a:xfrm>
              <a:off x="13127333" y="5174880"/>
              <a:ext cx="5161280" cy="5112384"/>
            </a:xfrm>
            <a:custGeom>
              <a:rect b="b" l="l" r="r" t="t"/>
              <a:pathLst>
                <a:path extrusionOk="0" h="5112384" w="5161280">
                  <a:moveTo>
                    <a:pt x="0" y="0"/>
                  </a:moveTo>
                  <a:lnTo>
                    <a:pt x="5160665" y="0"/>
                  </a:lnTo>
                  <a:lnTo>
                    <a:pt x="5160665" y="5112119"/>
                  </a:lnTo>
                  <a:lnTo>
                    <a:pt x="0" y="5112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0" name="Google Shape;140;g1272c43a1f8_0_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510"/>
              <a:ext cx="18283534" cy="10284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g1272c43a1f8_0_8"/>
            <p:cNvSpPr/>
            <p:nvPr/>
          </p:nvSpPr>
          <p:spPr>
            <a:xfrm>
              <a:off x="0" y="1"/>
              <a:ext cx="18288000" cy="5544820"/>
            </a:xfrm>
            <a:custGeom>
              <a:rect b="b" l="l" r="r" t="t"/>
              <a:pathLst>
                <a:path extrusionOk="0" h="5544820" w="18288000">
                  <a:moveTo>
                    <a:pt x="18287998" y="5544300"/>
                  </a:moveTo>
                  <a:lnTo>
                    <a:pt x="0" y="5544300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554430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g1272c43a1f8_0_8"/>
          <p:cNvSpPr/>
          <p:nvPr/>
        </p:nvSpPr>
        <p:spPr>
          <a:xfrm>
            <a:off x="13317833" y="5365380"/>
            <a:ext cx="4970780" cy="4921884"/>
          </a:xfrm>
          <a:custGeom>
            <a:rect b="b" l="l" r="r" t="t"/>
            <a:pathLst>
              <a:path extrusionOk="0" h="4921884" w="4970780">
                <a:moveTo>
                  <a:pt x="0" y="0"/>
                </a:moveTo>
                <a:lnTo>
                  <a:pt x="4970165" y="0"/>
                </a:lnTo>
                <a:lnTo>
                  <a:pt x="4970165" y="4921619"/>
                </a:lnTo>
                <a:lnTo>
                  <a:pt x="0" y="4921619"/>
                </a:lnTo>
                <a:lnTo>
                  <a:pt x="0" y="0"/>
                </a:lnTo>
                <a:close/>
              </a:path>
            </a:pathLst>
          </a:custGeom>
          <a:solidFill>
            <a:srgbClr val="0416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1272c43a1f8_0_8"/>
          <p:cNvSpPr txBox="1"/>
          <p:nvPr/>
        </p:nvSpPr>
        <p:spPr>
          <a:xfrm>
            <a:off x="4301767" y="2344521"/>
            <a:ext cx="2203500" cy="3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6286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Bebas Neue"/>
              <a:buChar char="●"/>
            </a:pPr>
            <a:r>
              <a:rPr i="0" lang="en-US" sz="63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 I2C </a:t>
            </a:r>
            <a:endParaRPr sz="63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6286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Bebas Neue"/>
              <a:buChar char="●"/>
            </a:pPr>
            <a:r>
              <a:rPr i="0" lang="en-US" sz="63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SPI</a:t>
            </a:r>
            <a:endParaRPr i="0" sz="6300" u="none" cap="none" strike="noStrike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628650" lvl="0" marL="4572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00"/>
              <a:buFont typeface="Bebas Neue"/>
              <a:buChar char="●"/>
            </a:pPr>
            <a:r>
              <a:rPr lang="en-US" sz="63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UART </a:t>
            </a:r>
            <a:endParaRPr sz="63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4" name="Google Shape;144;g1272c43a1f8_0_8"/>
          <p:cNvSpPr txBox="1"/>
          <p:nvPr/>
        </p:nvSpPr>
        <p:spPr>
          <a:xfrm>
            <a:off x="2941627" y="997650"/>
            <a:ext cx="79668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i="0" lang="en-US" sz="705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Tipos de comunicação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5" name="Google Shape;145;g1272c43a1f8_0_8"/>
          <p:cNvSpPr/>
          <p:nvPr/>
        </p:nvSpPr>
        <p:spPr>
          <a:xfrm flipH="1" rot="5400000">
            <a:off x="7905524" y="8449"/>
            <a:ext cx="10457154" cy="10681848"/>
          </a:xfrm>
          <a:prstGeom prst="flowChartDocumen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g1272c43a1f8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23775" y="804900"/>
            <a:ext cx="8416599" cy="32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1272c43a1f8_0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55125" y="4038600"/>
            <a:ext cx="5153900" cy="36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1272c43a1f8_0_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72806" y="7531631"/>
            <a:ext cx="6518550" cy="28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5050" y="2714630"/>
            <a:ext cx="7286625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 txBox="1"/>
          <p:nvPr>
            <p:ph type="title"/>
          </p:nvPr>
        </p:nvSpPr>
        <p:spPr>
          <a:xfrm>
            <a:off x="1641276" y="1247525"/>
            <a:ext cx="70344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7050">
                <a:latin typeface="Bebas Neue"/>
                <a:ea typeface="Bebas Neue"/>
                <a:cs typeface="Bebas Neue"/>
                <a:sym typeface="Bebas Neue"/>
              </a:rPr>
              <a:t>Telemetria Interna</a:t>
            </a:r>
            <a:endParaRPr sz="705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2369150" y="3380100"/>
            <a:ext cx="8280300" cy="3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Obtenção de aceleração, rotação e temperatura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Comunicação via Bluetooth com a placa de recuperação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g131a27adc92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95500"/>
            <a:ext cx="18288000" cy="66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272c43a1f8_0_105"/>
          <p:cNvSpPr txBox="1"/>
          <p:nvPr/>
        </p:nvSpPr>
        <p:spPr>
          <a:xfrm>
            <a:off x="4135500" y="2809350"/>
            <a:ext cx="9227100" cy="4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28924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Barômetro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28924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Recuperação</a:t>
            </a:r>
            <a:endParaRPr i="0" sz="55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Sistema de Backup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Versão reduzida das placas internas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66" name="Google Shape;166;g1272c43a1f8_0_105"/>
          <p:cNvSpPr txBox="1"/>
          <p:nvPr>
            <p:ph type="title"/>
          </p:nvPr>
        </p:nvSpPr>
        <p:spPr>
          <a:xfrm>
            <a:off x="2941625" y="997650"/>
            <a:ext cx="68511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7050">
                <a:latin typeface="Bebas Neue"/>
                <a:ea typeface="Bebas Neue"/>
                <a:cs typeface="Bebas Neue"/>
                <a:sym typeface="Bebas Neue"/>
              </a:rPr>
              <a:t>Recuperação</a:t>
            </a:r>
            <a:endParaRPr sz="705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167" name="Google Shape;167;g1272c43a1f8_0_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5900" y="1503225"/>
            <a:ext cx="4897700" cy="489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131a27adc92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5100"/>
            <a:ext cx="18287999" cy="989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/>
        </p:nvSpPr>
        <p:spPr>
          <a:xfrm>
            <a:off x="3321267" y="2368721"/>
            <a:ext cx="5490900" cy="3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28924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i="0" lang="en-US" sz="55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LoRa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28924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i="0" lang="en-US" sz="55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Foguete</a:t>
            </a:r>
            <a:endParaRPr i="0" sz="55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i="0" lang="en-US" sz="55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Bancada em solo</a:t>
            </a:r>
            <a:endParaRPr i="0" sz="55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7275" y="4759050"/>
            <a:ext cx="5707950" cy="428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 txBox="1"/>
          <p:nvPr>
            <p:ph type="title"/>
          </p:nvPr>
        </p:nvSpPr>
        <p:spPr>
          <a:xfrm>
            <a:off x="2941627" y="997652"/>
            <a:ext cx="62502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950">
                <a:latin typeface="Bebas Neue"/>
                <a:ea typeface="Bebas Neue"/>
                <a:cs typeface="Bebas Neue"/>
                <a:sym typeface="Bebas Neue"/>
              </a:rPr>
              <a:t>Telecomunicação</a:t>
            </a:r>
            <a:endParaRPr sz="6950"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131a27adc92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5750"/>
            <a:ext cx="18288000" cy="9955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11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190" name="Google Shape;190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7999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11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2" name="Google Shape;19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72658" y="2524875"/>
            <a:ext cx="4095749" cy="455294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 txBox="1"/>
          <p:nvPr/>
        </p:nvSpPr>
        <p:spPr>
          <a:xfrm>
            <a:off x="4799106" y="2524865"/>
            <a:ext cx="4069800" cy="3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60960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ebas Neue"/>
              <a:buChar char="●"/>
            </a:pPr>
            <a:r>
              <a:rPr i="0" lang="en-US" sz="6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Transmissão</a:t>
            </a:r>
            <a:endParaRPr sz="6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60960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ebas Neue"/>
              <a:buChar char="●"/>
            </a:pPr>
            <a:r>
              <a:rPr i="0" lang="en-US" sz="6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Recepção</a:t>
            </a:r>
            <a:endParaRPr sz="6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60960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ebas Neue"/>
              <a:buChar char="●"/>
            </a:pPr>
            <a:r>
              <a:rPr i="0" lang="en-US" sz="6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Segurança</a:t>
            </a:r>
            <a:endParaRPr i="0" sz="60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2941627" y="997652"/>
            <a:ext cx="26727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i="0" lang="en-US" sz="705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Ignição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131a27adc92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7999" cy="10316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g131a27adc92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663" y="0"/>
            <a:ext cx="14582671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13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10" name="Google Shape;21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7998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13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2" name="Google Shape;21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02471" y="2313693"/>
            <a:ext cx="6953249" cy="524827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3"/>
          <p:cNvSpPr txBox="1"/>
          <p:nvPr/>
        </p:nvSpPr>
        <p:spPr>
          <a:xfrm>
            <a:off x="4456624" y="2417625"/>
            <a:ext cx="6017400" cy="23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60960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ebas Neue"/>
              <a:buChar char="●"/>
            </a:pPr>
            <a:r>
              <a:rPr i="0" lang="en-US" sz="6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Célula de carga </a:t>
            </a:r>
            <a:endParaRPr sz="6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60960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ebas Neue"/>
              <a:buChar char="●"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Teste Estático</a:t>
            </a:r>
            <a:endParaRPr i="0" sz="60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2941627" y="997652"/>
            <a:ext cx="5931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i="0" lang="en-US" sz="705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Bancada estática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2dff24fa28_0_9"/>
          <p:cNvSpPr txBox="1"/>
          <p:nvPr>
            <p:ph idx="1" type="subTitle"/>
          </p:nvPr>
        </p:nvSpPr>
        <p:spPr>
          <a:xfrm>
            <a:off x="2743200" y="5760720"/>
            <a:ext cx="128016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g12dff24fa28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7503" y="0"/>
            <a:ext cx="1247298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g12a841ac707_1_14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26" name="Google Shape;226;g12a841ac707_1_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g12a841ac707_1_14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g12a841ac707_1_14"/>
          <p:cNvSpPr txBox="1"/>
          <p:nvPr/>
        </p:nvSpPr>
        <p:spPr>
          <a:xfrm>
            <a:off x="2941627" y="997652"/>
            <a:ext cx="5931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PCBs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29" name="Google Shape;229;g12a841ac707_1_14"/>
          <p:cNvSpPr txBox="1"/>
          <p:nvPr/>
        </p:nvSpPr>
        <p:spPr>
          <a:xfrm>
            <a:off x="4098750" y="2396850"/>
            <a:ext cx="10090500" cy="5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Produção digital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Impressão na placa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Corrosão em ácido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Prateamento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Furação da placa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Instalação dos componentes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g12a841ac707_1_45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35" name="Google Shape;235;g12a841ac707_1_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g12a841ac707_1_45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g12a841ac707_1_45"/>
          <p:cNvSpPr txBox="1"/>
          <p:nvPr/>
        </p:nvSpPr>
        <p:spPr>
          <a:xfrm>
            <a:off x="2941627" y="997652"/>
            <a:ext cx="5931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PCBs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38" name="Google Shape;238;g12a841ac707_1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5313" y="2080350"/>
            <a:ext cx="11917374" cy="773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g13306d635f2_0_0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44" name="Google Shape;244;g13306d635f2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g13306d635f2_0_0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g13306d635f2_0_0"/>
          <p:cNvSpPr txBox="1"/>
          <p:nvPr/>
        </p:nvSpPr>
        <p:spPr>
          <a:xfrm>
            <a:off x="2941627" y="997652"/>
            <a:ext cx="5931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PCBs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47" name="Google Shape;247;g13306d635f2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8025" y="1996775"/>
            <a:ext cx="9911950" cy="817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g131a27adc92_0_31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53" name="Google Shape;253;g131a27adc92_0_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g131a27adc92_0_31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5" name="Google Shape;255;g131a27adc92_0_31"/>
          <p:cNvSpPr txBox="1"/>
          <p:nvPr/>
        </p:nvSpPr>
        <p:spPr>
          <a:xfrm>
            <a:off x="2941627" y="997652"/>
            <a:ext cx="5931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PCBs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56" name="Google Shape;256;g131a27adc92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5217" y="2080350"/>
            <a:ext cx="10717571" cy="782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g131a27adc92_0_39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62" name="Google Shape;262;g131a27adc92_0_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g131a27adc92_0_39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g131a27adc92_0_39"/>
          <p:cNvSpPr txBox="1"/>
          <p:nvPr/>
        </p:nvSpPr>
        <p:spPr>
          <a:xfrm>
            <a:off x="2941627" y="997652"/>
            <a:ext cx="59316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69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PCBs</a:t>
            </a:r>
            <a:endParaRPr i="0" sz="69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65" name="Google Shape;265;g131a27adc92_0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0025" y="2220175"/>
            <a:ext cx="11907950" cy="784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g12a841ac707_1_60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71" name="Google Shape;271;g12a841ac707_1_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g12a841ac707_1_60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3" name="Google Shape;273;g12a841ac707_1_60"/>
          <p:cNvSpPr txBox="1"/>
          <p:nvPr/>
        </p:nvSpPr>
        <p:spPr>
          <a:xfrm>
            <a:off x="2941627" y="997652"/>
            <a:ext cx="5931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Testes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74" name="Google Shape;274;g12a841ac707_1_60"/>
          <p:cNvSpPr txBox="1"/>
          <p:nvPr/>
        </p:nvSpPr>
        <p:spPr>
          <a:xfrm>
            <a:off x="4098750" y="2355300"/>
            <a:ext cx="10090500" cy="4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Elaboração de programas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Testes individuais dos componentes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Testes em placa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Hardware in the loop (HITL)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g12a841ac707_1_68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80" name="Google Shape;280;g12a841ac707_1_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81" name="Google Shape;281;g12a841ac707_1_68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2" name="Google Shape;282;g12a841ac707_1_68"/>
          <p:cNvSpPr txBox="1"/>
          <p:nvPr/>
        </p:nvSpPr>
        <p:spPr>
          <a:xfrm>
            <a:off x="2941627" y="997652"/>
            <a:ext cx="5931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t/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3" name="Google Shape;283;g12a841ac707_1_68"/>
          <p:cNvSpPr/>
          <p:nvPr/>
        </p:nvSpPr>
        <p:spPr>
          <a:xfrm>
            <a:off x="7798500" y="2327550"/>
            <a:ext cx="2691000" cy="6338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12a841ac707_1_68"/>
          <p:cNvSpPr/>
          <p:nvPr/>
        </p:nvSpPr>
        <p:spPr>
          <a:xfrm>
            <a:off x="12635225" y="4447200"/>
            <a:ext cx="2691000" cy="20991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12a841ac707_1_68"/>
          <p:cNvSpPr/>
          <p:nvPr/>
        </p:nvSpPr>
        <p:spPr>
          <a:xfrm>
            <a:off x="2961775" y="4447200"/>
            <a:ext cx="2691000" cy="20991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6" name="Google Shape;286;g12a841ac707_1_68"/>
          <p:cNvCxnSpPr>
            <a:stCxn id="285" idx="3"/>
            <a:endCxn id="283" idx="1"/>
          </p:cNvCxnSpPr>
          <p:nvPr/>
        </p:nvCxnSpPr>
        <p:spPr>
          <a:xfrm>
            <a:off x="5652775" y="5496750"/>
            <a:ext cx="21456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" name="Google Shape;287;g12a841ac707_1_68"/>
          <p:cNvCxnSpPr>
            <a:stCxn id="283" idx="3"/>
            <a:endCxn id="284" idx="1"/>
          </p:cNvCxnSpPr>
          <p:nvPr/>
        </p:nvCxnSpPr>
        <p:spPr>
          <a:xfrm>
            <a:off x="10489500" y="5496750"/>
            <a:ext cx="21456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8" name="Google Shape;288;g12a841ac707_1_68"/>
          <p:cNvSpPr txBox="1"/>
          <p:nvPr/>
        </p:nvSpPr>
        <p:spPr>
          <a:xfrm>
            <a:off x="3320125" y="4572000"/>
            <a:ext cx="197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Computador</a:t>
            </a:r>
            <a:endParaRPr sz="28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9" name="Google Shape;289;g12a841ac707_1_68"/>
          <p:cNvSpPr txBox="1"/>
          <p:nvPr/>
        </p:nvSpPr>
        <p:spPr>
          <a:xfrm>
            <a:off x="8156850" y="3710100"/>
            <a:ext cx="1974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Computador</a:t>
            </a:r>
            <a:endParaRPr sz="28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de</a:t>
            </a:r>
            <a:endParaRPr sz="28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Bordo</a:t>
            </a:r>
            <a:endParaRPr sz="28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0" name="Google Shape;290;g12a841ac707_1_68"/>
          <p:cNvSpPr txBox="1"/>
          <p:nvPr/>
        </p:nvSpPr>
        <p:spPr>
          <a:xfrm>
            <a:off x="12993575" y="4572000"/>
            <a:ext cx="197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Eletrônicos</a:t>
            </a:r>
            <a:endParaRPr sz="28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1" name="Google Shape;291;g12a841ac707_1_68"/>
          <p:cNvSpPr txBox="1"/>
          <p:nvPr/>
        </p:nvSpPr>
        <p:spPr>
          <a:xfrm>
            <a:off x="3320125" y="5187600"/>
            <a:ext cx="197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CCCC"/>
                </a:solidFill>
                <a:latin typeface="Bebas Neue"/>
                <a:ea typeface="Bebas Neue"/>
                <a:cs typeface="Bebas Neue"/>
                <a:sym typeface="Bebas Neue"/>
              </a:rPr>
              <a:t>Dados simulados em software</a:t>
            </a:r>
            <a:endParaRPr sz="2000">
              <a:solidFill>
                <a:srgbClr val="CCCCC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2" name="Google Shape;292;g12a841ac707_1_68"/>
          <p:cNvSpPr txBox="1"/>
          <p:nvPr/>
        </p:nvSpPr>
        <p:spPr>
          <a:xfrm>
            <a:off x="8156775" y="5187600"/>
            <a:ext cx="197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CCCC"/>
                </a:solidFill>
                <a:latin typeface="Bebas Neue"/>
                <a:ea typeface="Bebas Neue"/>
                <a:cs typeface="Bebas Neue"/>
                <a:sym typeface="Bebas Neue"/>
              </a:rPr>
              <a:t>Programas aplicados</a:t>
            </a:r>
            <a:endParaRPr sz="2000">
              <a:solidFill>
                <a:srgbClr val="CCCCC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3" name="Google Shape;293;g12a841ac707_1_68"/>
          <p:cNvSpPr txBox="1"/>
          <p:nvPr/>
        </p:nvSpPr>
        <p:spPr>
          <a:xfrm>
            <a:off x="12993525" y="5187600"/>
            <a:ext cx="197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CCCC"/>
                </a:solidFill>
                <a:latin typeface="Bebas Neue"/>
                <a:ea typeface="Bebas Neue"/>
                <a:cs typeface="Bebas Neue"/>
                <a:sym typeface="Bebas Neue"/>
              </a:rPr>
              <a:t>Verificação de acionamentos</a:t>
            </a:r>
            <a:endParaRPr sz="2000">
              <a:solidFill>
                <a:srgbClr val="CCCCC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4" name="Google Shape;294;g12a841ac707_1_68"/>
          <p:cNvSpPr txBox="1"/>
          <p:nvPr/>
        </p:nvSpPr>
        <p:spPr>
          <a:xfrm>
            <a:off x="2941624" y="997650"/>
            <a:ext cx="81768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Hardware in the loop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14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300" name="Google Shape;30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7999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" name="Google Shape;301;p14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14"/>
          <p:cNvSpPr txBox="1"/>
          <p:nvPr>
            <p:ph type="title"/>
          </p:nvPr>
        </p:nvSpPr>
        <p:spPr>
          <a:xfrm>
            <a:off x="7975800" y="4434400"/>
            <a:ext cx="27060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Obrigado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